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835CAE-33CD-42AA-A34C-E08AF2DB5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2777D5-6900-4323-B04A-0747BADD8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49D786-15E1-4498-86C5-359730209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512474-3EE2-4D23-A616-D4FE29431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A423FB-C8C2-4178-B107-BEF4F186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0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17D957-1806-4929-9B92-ED7B339AF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4DF5C5-A7A3-47CC-B5B0-A0F5CA692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BC64E6-3C03-4339-BD4C-5E898C62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0C3F57-29FA-487C-86C1-1746DF55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1D2B54-C7D4-4BFD-810B-406DF065A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27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5B57F9-9435-4CE6-9515-5853E739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9FD018-AED5-4269-8A64-F73E082EE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C48C52-D865-4BE1-B57E-C3163C789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D6E405-8E27-4BC1-9A06-76F4BA82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7E4473-4A50-46F2-A233-90B3BA1EB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932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80F33-324B-4688-B018-09D8480A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A2536C-8998-4CFE-93D2-C13546682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409D30-ECCB-4FC3-8FCA-A3EAB8669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61FBEE-8A2E-4E69-A61A-E469A6F2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4CF486-4512-497D-A01F-E7E52E5A0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890E55-7D8B-4869-B2C0-F0C7BCEB0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92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074AD1-21A9-4F90-BB38-9F93E86E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57A5AC-C47B-490D-A614-4E978B771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3966CF-2D2A-4FC0-A6CD-BC3E4F363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324F23-B695-486D-8B22-DC5AA322C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B9628B4-7D81-44F4-B448-E0E51F177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2790811-00B8-4793-A742-11B129C8C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F4D98FB-342C-4978-8580-43EB06689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354127-52B6-4A9C-8F6A-1E7878B2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08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EFFE76-96DB-4319-A270-025569D7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183B68-753F-4303-B969-00BED894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0346E2-62C6-45FC-86AC-A46CF89BC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07A09CB-05E0-44D9-B5AD-6F3E9F34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0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E7A7A9-6995-4C4E-9AA2-EB461C55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B0E9777-8123-4A54-A828-9D241FAFE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FD0697-92EC-46D4-9EDA-334856E3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03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CE13C-FDA2-4C45-94AE-177AE0CD5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C84B32-9B50-4951-B883-55E01BD28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2A7A0A-20FA-4DF1-80F6-4B7B59CCE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ED44A-3002-4362-AB90-E0AAC4C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5EB152-8035-4A1A-95B0-4483EBFC8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F95C2E-16C3-4A92-92C3-9383445D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158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EFBD9-BD13-461B-8313-137639CB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180A96-0F9A-4404-894B-17D102861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2764D80-EE10-4358-AA81-7CAE8E9B21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8AF814-02BD-4237-A5CA-C91C6E1E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EDBA28-C9AA-4933-B0E9-90CE18CE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42C1B1-EAE5-4FF8-B52A-82A0B20D8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622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03FCA-D1E1-4025-8192-569C34E2C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075748-F13B-4F5C-AF98-7B152A841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5D123A-C23F-4502-A9E5-33AC54EB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037C91-1A7B-4788-A19F-090F32F53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E793AC-9890-434E-8DBA-FB1993F9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59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217B4C1-82BB-4914-9624-37520401C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00E0892-0478-42D0-BAC5-468D34BD5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E254C2-1BC4-4322-8B5F-467658ED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B38522-4733-4B6A-BC92-04E71385C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BAD6D1-6866-46DB-9703-F0ADC0E2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50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42427-D96E-44E3-B910-277295A28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BA0532-8145-4F25-AF6E-0378D58D4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A1DB38-C066-4AF8-97A6-416FAAF9E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5EFCB-EC57-4BAA-8B32-209DC539685C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1DBF49-0B07-450C-8566-8236D8EF1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9346E0-3527-4429-97EB-B04888FD3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95265-CFB1-4282-86FA-B29C5CAA30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0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0690F-7F00-4DC7-8E2F-1A2E660F05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за 9-ый класс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450B64-8D88-4D16-B484-BA9E32C636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Жданов Максим Сергеевич</a:t>
            </a:r>
          </a:p>
          <a:p>
            <a:r>
              <a:rPr lang="ru-RU" dirty="0"/>
              <a:t>Класс 9-7</a:t>
            </a:r>
          </a:p>
          <a:p>
            <a:r>
              <a:rPr lang="ru-RU" dirty="0"/>
              <a:t>МБОУ СОШ №30</a:t>
            </a:r>
          </a:p>
          <a:p>
            <a:r>
              <a:rPr lang="ru-RU" dirty="0"/>
              <a:t>2026 г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452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32144-51C4-4444-B02E-7401F75B7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Перечисление разделов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EEC3B3-3B68-4C7D-B8FE-3355D910E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1</a:t>
            </a:r>
            <a:r>
              <a:rPr lang="en-US" dirty="0"/>
              <a:t>.</a:t>
            </a:r>
            <a:r>
              <a:rPr lang="ru-RU" dirty="0"/>
              <a:t>Введение ………………………………………………………</a:t>
            </a:r>
            <a:r>
              <a:rPr lang="en-US" dirty="0"/>
              <a:t>…. </a:t>
            </a:r>
            <a:r>
              <a:rPr lang="ru-RU" dirty="0"/>
              <a:t>3</a:t>
            </a:r>
          </a:p>
          <a:p>
            <a:r>
              <a:rPr lang="en-US" dirty="0"/>
              <a:t>2.</a:t>
            </a:r>
            <a:r>
              <a:rPr lang="ru-RU" dirty="0"/>
              <a:t>Теоретическая часть ………………………………………… 4</a:t>
            </a:r>
            <a:br>
              <a:rPr lang="ru-RU" dirty="0"/>
            </a:br>
            <a:r>
              <a:rPr lang="en-US" dirty="0"/>
              <a:t>    </a:t>
            </a:r>
            <a:r>
              <a:rPr lang="ru-RU" dirty="0"/>
              <a:t>2.1. Основные понятия и термины ………………… 4</a:t>
            </a:r>
            <a:br>
              <a:rPr lang="ru-RU" dirty="0"/>
            </a:br>
            <a:r>
              <a:rPr lang="en-US" dirty="0"/>
              <a:t>    </a:t>
            </a:r>
            <a:r>
              <a:rPr lang="ru-RU" dirty="0"/>
              <a:t>2.2. История развития темы …………………………… 5</a:t>
            </a:r>
            <a:br>
              <a:rPr lang="ru-RU" dirty="0"/>
            </a:br>
            <a:r>
              <a:rPr lang="en-US" dirty="0"/>
              <a:t>    </a:t>
            </a:r>
            <a:r>
              <a:rPr lang="ru-RU" dirty="0"/>
              <a:t>2.3. Современные тенденции ………………………… 6</a:t>
            </a:r>
          </a:p>
          <a:p>
            <a:r>
              <a:rPr lang="en-US" dirty="0"/>
              <a:t>3.</a:t>
            </a:r>
            <a:r>
              <a:rPr lang="ru-RU" dirty="0"/>
              <a:t>Практическая часть …………………………………………</a:t>
            </a:r>
            <a:r>
              <a:rPr lang="en-US" dirty="0"/>
              <a:t>.</a:t>
            </a:r>
            <a:r>
              <a:rPr lang="ru-RU" dirty="0"/>
              <a:t> 7</a:t>
            </a:r>
            <a:br>
              <a:rPr lang="ru-RU" dirty="0"/>
            </a:br>
            <a:r>
              <a:rPr lang="en-US" dirty="0"/>
              <a:t>    </a:t>
            </a:r>
            <a:r>
              <a:rPr lang="ru-RU" dirty="0"/>
              <a:t>3.1. Постановка задачи …………………………………</a:t>
            </a:r>
            <a:r>
              <a:rPr lang="en-US" dirty="0"/>
              <a:t>..</a:t>
            </a:r>
            <a:r>
              <a:rPr lang="ru-RU" dirty="0"/>
              <a:t> 7</a:t>
            </a:r>
            <a:br>
              <a:rPr lang="ru-RU" dirty="0"/>
            </a:br>
            <a:r>
              <a:rPr lang="en-US" dirty="0"/>
              <a:t>    </a:t>
            </a:r>
            <a:r>
              <a:rPr lang="ru-RU" dirty="0"/>
              <a:t>3.2. Описание решения …………………………………</a:t>
            </a:r>
            <a:r>
              <a:rPr lang="en-US" dirty="0"/>
              <a:t>..</a:t>
            </a:r>
            <a:r>
              <a:rPr lang="ru-RU" dirty="0"/>
              <a:t> 8</a:t>
            </a:r>
            <a:r>
              <a:rPr lang="en-US" dirty="0"/>
              <a:t>-9</a:t>
            </a:r>
            <a:br>
              <a:rPr lang="ru-RU" dirty="0"/>
            </a:br>
            <a:r>
              <a:rPr lang="en-US" dirty="0"/>
              <a:t>    </a:t>
            </a:r>
            <a:r>
              <a:rPr lang="ru-RU" dirty="0"/>
              <a:t>3.3. Результаты и тестирование ……………………</a:t>
            </a:r>
            <a:r>
              <a:rPr lang="en-US" dirty="0"/>
              <a:t>..</a:t>
            </a:r>
            <a:r>
              <a:rPr lang="ru-RU" dirty="0"/>
              <a:t> </a:t>
            </a:r>
            <a:r>
              <a:rPr lang="en-US" dirty="0"/>
              <a:t>10</a:t>
            </a:r>
            <a:endParaRPr lang="ru-RU" dirty="0"/>
          </a:p>
          <a:p>
            <a:r>
              <a:rPr lang="en-US" dirty="0"/>
              <a:t>4.</a:t>
            </a:r>
            <a:r>
              <a:rPr lang="ru-RU" dirty="0"/>
              <a:t>Заключение …………………………………………………</a:t>
            </a:r>
            <a:r>
              <a:rPr lang="en-US" dirty="0"/>
              <a:t>…..</a:t>
            </a:r>
            <a:r>
              <a:rPr lang="ru-RU" dirty="0"/>
              <a:t> 1</a:t>
            </a:r>
            <a:r>
              <a:rPr lang="en-US" dirty="0"/>
              <a:t>1</a:t>
            </a:r>
            <a:endParaRPr lang="ru-RU" dirty="0"/>
          </a:p>
          <a:p>
            <a:r>
              <a:rPr lang="en-US" dirty="0"/>
              <a:t>5.</a:t>
            </a:r>
            <a:r>
              <a:rPr lang="ru-RU" dirty="0"/>
              <a:t>Список источников …………………………………………</a:t>
            </a:r>
            <a:r>
              <a:rPr lang="en-US" dirty="0"/>
              <a:t>..</a:t>
            </a:r>
            <a:r>
              <a:rPr lang="ru-RU" dirty="0"/>
              <a:t> 1</a:t>
            </a:r>
            <a:r>
              <a:rPr lang="en-US" dirty="0"/>
              <a:t>2</a:t>
            </a:r>
            <a:endParaRPr lang="ru-RU" dirty="0"/>
          </a:p>
          <a:p>
            <a:r>
              <a:rPr lang="en-US" dirty="0"/>
              <a:t>6.</a:t>
            </a:r>
            <a:r>
              <a:rPr lang="ru-RU" dirty="0"/>
              <a:t>Приложения …………………………………………………</a:t>
            </a:r>
            <a:r>
              <a:rPr lang="en-US" dirty="0"/>
              <a:t>….</a:t>
            </a:r>
            <a:r>
              <a:rPr lang="ru-RU" dirty="0"/>
              <a:t> 1</a:t>
            </a:r>
            <a:r>
              <a:rPr lang="en-US" dirty="0"/>
              <a:t>3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3533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E689F3-AE28-40FC-A2B1-4E56D30A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1. Введение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FF5C12-8679-4809-8BED-317E363E1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ru-RU" b="1" dirty="0"/>
              <a:t>Актуальность темы.</a:t>
            </a:r>
            <a:r>
              <a:rPr lang="ru-RU" dirty="0"/>
              <a:t> В современном мире информационные технологии пронизывают все сферы жизни. Умение работать с данными, понимать принципы алгоритмов и защищать личную информацию становится жизненно необходимым. Данный проект направлен на изучение  «основ криптографии», «принципов работы веб‑сайтов», «методов анализа данных» и создание практического продукта, который поможет [ «обеспечить безопасность переписки», «автоматизировать учёт расходов», «визуализировать статистику».</a:t>
            </a:r>
          </a:p>
          <a:p>
            <a:r>
              <a:rPr lang="ru-RU" b="1" dirty="0"/>
              <a:t>Цель проекта:</a:t>
            </a:r>
            <a:r>
              <a:rPr lang="ru-RU" dirty="0"/>
              <a:t> разработать «простую систему шифрования» и продемонстрировать её работоспособность.</a:t>
            </a:r>
          </a:p>
          <a:p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изучить теоретические основы Метода цезаря;</a:t>
            </a:r>
          </a:p>
          <a:p>
            <a:r>
              <a:rPr lang="ru-RU" dirty="0"/>
              <a:t>проанализировать существующие решения;</a:t>
            </a:r>
          </a:p>
          <a:p>
            <a:r>
              <a:rPr lang="ru-RU" dirty="0"/>
              <a:t>спроектировать и реализовать собственный продукт;</a:t>
            </a:r>
          </a:p>
          <a:p>
            <a:r>
              <a:rPr lang="ru-RU" dirty="0"/>
              <a:t>протестировать его и оценить эффективность.</a:t>
            </a:r>
          </a:p>
          <a:p>
            <a:r>
              <a:rPr lang="ru-RU" b="1" dirty="0"/>
              <a:t>Объект исследования:</a:t>
            </a:r>
            <a:r>
              <a:rPr lang="ru-RU" dirty="0"/>
              <a:t> «процессы шифрования данных».</a:t>
            </a:r>
          </a:p>
          <a:p>
            <a:r>
              <a:rPr lang="ru-RU" b="1" dirty="0"/>
              <a:t>Предмет исследования:</a:t>
            </a:r>
            <a:r>
              <a:rPr lang="ru-RU" dirty="0"/>
              <a:t>  «метод Цезаря».</a:t>
            </a:r>
          </a:p>
          <a:p>
            <a:r>
              <a:rPr lang="ru-RU" b="1" dirty="0"/>
              <a:t>Методы работы:</a:t>
            </a:r>
            <a:endParaRPr lang="ru-RU" dirty="0"/>
          </a:p>
          <a:p>
            <a:r>
              <a:rPr lang="ru-RU" dirty="0"/>
              <a:t>анализ литературы и онлайн‑ресурсов;</a:t>
            </a:r>
          </a:p>
          <a:p>
            <a:r>
              <a:rPr lang="ru-RU" dirty="0"/>
              <a:t>проектирование алгоритма;</a:t>
            </a:r>
          </a:p>
          <a:p>
            <a:r>
              <a:rPr lang="ru-RU" dirty="0"/>
              <a:t>программирование;</a:t>
            </a:r>
          </a:p>
          <a:p>
            <a:r>
              <a:rPr lang="ru-RU" dirty="0"/>
              <a:t>тестирование и оптимизация.</a:t>
            </a:r>
          </a:p>
          <a:p>
            <a:r>
              <a:rPr lang="ru-RU" b="1" dirty="0"/>
              <a:t>Гипотеза</a:t>
            </a:r>
            <a:r>
              <a:rPr lang="en-US" b="1" dirty="0"/>
              <a:t>:</a:t>
            </a:r>
            <a:r>
              <a:rPr lang="ru-RU" dirty="0"/>
              <a:t>  предполагается, что использование шифра Цезаря достаточно для защиты коротких сообщений от случайного взлома.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46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6B07C3-EFA5-4ED8-A322-8F11C135A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 Теоретическая часть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8A07B6-764A-47E6-BD84-0C0362BEA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2.1. Основные понятия и термины</a:t>
            </a:r>
          </a:p>
          <a:p>
            <a:r>
              <a:rPr lang="ru-RU" b="1" dirty="0"/>
              <a:t>Криптография</a:t>
            </a:r>
            <a:r>
              <a:rPr lang="ru-RU" dirty="0"/>
              <a:t> — наука о методах обеспечения конфиденциальности и целостности данных.</a:t>
            </a:r>
          </a:p>
          <a:p>
            <a:r>
              <a:rPr lang="ru-RU" b="1" dirty="0"/>
              <a:t>Шифр</a:t>
            </a:r>
            <a:r>
              <a:rPr lang="ru-RU" dirty="0"/>
              <a:t> — алгоритм преобразования исходного текста в зашифрованный.</a:t>
            </a:r>
          </a:p>
          <a:p>
            <a:r>
              <a:rPr lang="ru-RU" b="1" dirty="0"/>
              <a:t>Ключ</a:t>
            </a:r>
            <a:r>
              <a:rPr lang="ru-RU" dirty="0"/>
              <a:t> — параметр, необходимый для шифрования и расшифрования.</a:t>
            </a:r>
          </a:p>
          <a:p>
            <a:r>
              <a:rPr lang="ru-RU" b="1" dirty="0"/>
              <a:t>Алгоритм</a:t>
            </a:r>
            <a:r>
              <a:rPr lang="ru-RU" dirty="0"/>
              <a:t> — последовательность действий для решения задачи.</a:t>
            </a:r>
          </a:p>
          <a:p>
            <a:r>
              <a:rPr lang="ru-RU" b="1" dirty="0"/>
              <a:t>Веб‑страница</a:t>
            </a:r>
            <a:r>
              <a:rPr lang="ru-RU" dirty="0"/>
              <a:t> — документ, доступный через браузер, написанный на языке разметки (HTML).</a:t>
            </a:r>
          </a:p>
        </p:txBody>
      </p:sp>
    </p:spTree>
    <p:extLst>
      <p:ext uri="{BB962C8B-B14F-4D97-AF65-F5344CB8AC3E}">
        <p14:creationId xmlns:p14="http://schemas.microsoft.com/office/powerpoint/2010/main" val="50345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B44A2-F09A-4F93-999E-07E67E4F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2.2. История развития темы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30A236-B8B8-4C6F-8069-0EBE8DFB9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Криптография известна с древних времён:</a:t>
            </a:r>
          </a:p>
          <a:p>
            <a:r>
              <a:rPr lang="ru-RU" b="1" dirty="0"/>
              <a:t>Древний Рим:</a:t>
            </a:r>
            <a:r>
              <a:rPr lang="ru-RU" dirty="0"/>
              <a:t> шифр Цезаря (сдвиг букв алфавита на фиксированное число позиций).</a:t>
            </a:r>
          </a:p>
          <a:p>
            <a:r>
              <a:rPr lang="ru-RU" b="1" dirty="0"/>
              <a:t>Средние века:</a:t>
            </a:r>
            <a:r>
              <a:rPr lang="ru-RU" dirty="0"/>
              <a:t> появление </a:t>
            </a:r>
            <a:r>
              <a:rPr lang="ru-RU" dirty="0" err="1"/>
              <a:t>полиалфавитных</a:t>
            </a:r>
            <a:r>
              <a:rPr lang="ru-RU" dirty="0"/>
              <a:t> шифров (например, шифр </a:t>
            </a:r>
            <a:r>
              <a:rPr lang="ru-RU" dirty="0" err="1"/>
              <a:t>Виженера</a:t>
            </a:r>
            <a:r>
              <a:rPr lang="ru-RU" dirty="0"/>
              <a:t>).</a:t>
            </a:r>
          </a:p>
          <a:p>
            <a:r>
              <a:rPr lang="ru-RU" b="1" dirty="0"/>
              <a:t>XX век:</a:t>
            </a:r>
            <a:r>
              <a:rPr lang="ru-RU" dirty="0"/>
              <a:t> переход к математической криптографии (шифр RSA, 1977 г.).</a:t>
            </a:r>
          </a:p>
          <a:p>
            <a:r>
              <a:rPr lang="ru-RU" b="1" dirty="0"/>
              <a:t>Современность:</a:t>
            </a:r>
            <a:r>
              <a:rPr lang="ru-RU" dirty="0"/>
              <a:t> квантовая криптография, </a:t>
            </a:r>
            <a:r>
              <a:rPr lang="ru-RU" dirty="0" err="1"/>
              <a:t>блокчейн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238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FE1A8-F070-4630-8B6B-A4B0A742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2.3. Современные тенденции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9CC341-810D-4F85-9D4F-9F08542B1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Актуальное в данный момент времени:</a:t>
            </a:r>
          </a:p>
          <a:p>
            <a:r>
              <a:rPr lang="ru-RU" b="1" dirty="0"/>
              <a:t>Сквозное шифрование</a:t>
            </a:r>
            <a:r>
              <a:rPr lang="ru-RU" dirty="0"/>
              <a:t> (</a:t>
            </a:r>
            <a:r>
              <a:rPr lang="ru-RU" dirty="0" err="1"/>
              <a:t>end‑to‑end</a:t>
            </a:r>
            <a:r>
              <a:rPr lang="ru-RU" dirty="0"/>
              <a:t> </a:t>
            </a:r>
            <a:r>
              <a:rPr lang="ru-RU" dirty="0" err="1"/>
              <a:t>encryption</a:t>
            </a:r>
            <a:r>
              <a:rPr lang="ru-RU" dirty="0"/>
              <a:t>) в мессенджерах.</a:t>
            </a:r>
          </a:p>
          <a:p>
            <a:r>
              <a:rPr lang="ru-RU" b="1" dirty="0"/>
              <a:t>Двухфакторная аутентификация</a:t>
            </a:r>
            <a:r>
              <a:rPr lang="ru-RU" dirty="0"/>
              <a:t> для защиты аккаунтов.</a:t>
            </a:r>
          </a:p>
          <a:p>
            <a:r>
              <a:rPr lang="ru-RU" b="1" dirty="0" err="1"/>
              <a:t>Низкокодовые</a:t>
            </a:r>
            <a:r>
              <a:rPr lang="ru-RU" b="1" dirty="0"/>
              <a:t> платформы</a:t>
            </a:r>
            <a:r>
              <a:rPr lang="ru-RU" dirty="0"/>
              <a:t> для создания сайтов (</a:t>
            </a:r>
            <a:r>
              <a:rPr lang="ru-RU" dirty="0" err="1"/>
              <a:t>Tilda</a:t>
            </a:r>
            <a:r>
              <a:rPr lang="ru-RU" dirty="0"/>
              <a:t>, </a:t>
            </a:r>
            <a:r>
              <a:rPr lang="ru-RU" dirty="0" err="1"/>
              <a:t>Wix</a:t>
            </a:r>
            <a:r>
              <a:rPr lang="ru-RU" dirty="0"/>
              <a:t>).</a:t>
            </a:r>
          </a:p>
          <a:p>
            <a:r>
              <a:rPr lang="ru-RU" b="1" dirty="0"/>
              <a:t>Искусственный интеллект</a:t>
            </a:r>
            <a:r>
              <a:rPr lang="ru-RU" dirty="0"/>
              <a:t> в анализе данных (например, предсказание трендов).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030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D4340-9553-4BF5-96F0-88E492DF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 Практическая часть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38CB94-4F48-471E-BA64-9B0C5229B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3.1. Постановка задачи</a:t>
            </a:r>
          </a:p>
          <a:p>
            <a:r>
              <a:rPr lang="ru-RU" dirty="0"/>
              <a:t>Необходимо создать продукт, который:</a:t>
            </a:r>
          </a:p>
          <a:p>
            <a:r>
              <a:rPr lang="ru-RU" dirty="0"/>
              <a:t>реализует основную функцию «шифрование текста по методу Цезаря»;</a:t>
            </a:r>
          </a:p>
          <a:p>
            <a:r>
              <a:rPr lang="ru-RU" dirty="0"/>
              <a:t>имеет понятный интерфейс;</a:t>
            </a:r>
          </a:p>
          <a:p>
            <a:r>
              <a:rPr lang="ru-RU" dirty="0"/>
              <a:t>работает без ошибок на тестовых данных.</a:t>
            </a:r>
          </a:p>
          <a:p>
            <a:r>
              <a:rPr lang="ru-RU" b="1" dirty="0"/>
              <a:t>Требования:</a:t>
            </a:r>
            <a:endParaRPr lang="ru-RU" dirty="0"/>
          </a:p>
          <a:p>
            <a:r>
              <a:rPr lang="ru-RU" dirty="0"/>
              <a:t>язык программирования: </a:t>
            </a:r>
            <a:r>
              <a:rPr lang="ru-RU" dirty="0" err="1"/>
              <a:t>Python</a:t>
            </a:r>
            <a:r>
              <a:rPr lang="ru-RU" dirty="0"/>
              <a:t>;</a:t>
            </a:r>
          </a:p>
          <a:p>
            <a:r>
              <a:rPr lang="ru-RU" dirty="0"/>
              <a:t>платформа: консоль;</a:t>
            </a:r>
          </a:p>
          <a:p>
            <a:r>
              <a:rPr lang="ru-RU" dirty="0"/>
              <a:t>входные данные: строка текста;</a:t>
            </a:r>
          </a:p>
          <a:p>
            <a:r>
              <a:rPr lang="ru-RU" dirty="0"/>
              <a:t>выходные данные:  зашифрованный текст.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37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FF176B-F263-4C4A-AD13-D1319140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3.2. Описание решения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C59DB-BB23-4986-925A-70E226FCB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</a:t>
            </a:r>
            <a:r>
              <a:rPr lang="en-US" dirty="0"/>
              <a:t>.</a:t>
            </a:r>
            <a:r>
              <a:rPr lang="ru-RU" dirty="0"/>
              <a:t>Пользователь вводит текст и ключ (если нужно).</a:t>
            </a:r>
          </a:p>
          <a:p>
            <a:r>
              <a:rPr lang="en-US" dirty="0"/>
              <a:t>2.</a:t>
            </a:r>
            <a:r>
              <a:rPr lang="ru-RU" dirty="0"/>
              <a:t>Программа применяет выбранный метод обработки, сдвиг букв.</a:t>
            </a:r>
          </a:p>
          <a:p>
            <a:r>
              <a:rPr lang="en-US" dirty="0"/>
              <a:t>3.</a:t>
            </a:r>
            <a:r>
              <a:rPr lang="ru-RU" dirty="0"/>
              <a:t>Результат выводится на экран или сохраняется в файл.</a:t>
            </a:r>
          </a:p>
          <a:p>
            <a:r>
              <a:rPr lang="ru-RU" b="1" dirty="0"/>
              <a:t>Технические детали:</a:t>
            </a:r>
            <a:endParaRPr lang="en-US" b="1" dirty="0"/>
          </a:p>
          <a:p>
            <a:r>
              <a:rPr lang="en-US" dirty="0"/>
              <a:t>1.</a:t>
            </a:r>
            <a:r>
              <a:rPr lang="ru-RU" dirty="0"/>
              <a:t>Для шифрования использован язык </a:t>
            </a:r>
            <a:r>
              <a:rPr lang="ru-RU" dirty="0" err="1"/>
              <a:t>Python</a:t>
            </a:r>
            <a:r>
              <a:rPr lang="ru-RU" dirty="0"/>
              <a:t>, библиотека</a:t>
            </a:r>
            <a:r>
              <a:rPr lang="en-US" dirty="0"/>
              <a:t> starting.</a:t>
            </a:r>
            <a:br>
              <a:rPr lang="ru-RU" dirty="0"/>
            </a:br>
            <a:r>
              <a:rPr lang="en-US" dirty="0"/>
              <a:t>2.</a:t>
            </a:r>
            <a:r>
              <a:rPr lang="ru-RU" dirty="0"/>
              <a:t>Интерфейс реализован через консоль.</a:t>
            </a:r>
            <a:endParaRPr lang="en-US" dirty="0"/>
          </a:p>
          <a:p>
            <a:r>
              <a:rPr lang="ru-RU" dirty="0"/>
              <a:t>Код структурирован на функции:</a:t>
            </a:r>
            <a:r>
              <a:rPr lang="en-US" dirty="0"/>
              <a:t> encrypt(), decrypt(), main().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692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F56FF-CF6E-4014-96E2-B57501E43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Листинг кода</a:t>
            </a:r>
            <a:r>
              <a:rPr lang="ru-RU" dirty="0"/>
              <a:t> (фрагмент):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467348D-5EC4-47E6-B2C5-3FDFCDEE4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04" y="2438400"/>
            <a:ext cx="10381898" cy="3173506"/>
          </a:xfrm>
        </p:spPr>
      </p:pic>
    </p:spTree>
    <p:extLst>
      <p:ext uri="{BB962C8B-B14F-4D97-AF65-F5344CB8AC3E}">
        <p14:creationId xmlns:p14="http://schemas.microsoft.com/office/powerpoint/2010/main" val="1795320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0318E8-36D9-4112-A201-15F7B1FC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3.3. Результаты и тестирование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E7135F-428C-4315-9BAB-CEF846E5C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Тестовые данные:</a:t>
            </a:r>
            <a:br>
              <a:rPr lang="en-US" b="1" dirty="0"/>
            </a:br>
            <a:r>
              <a:rPr lang="ru-RU" b="1" dirty="0"/>
              <a:t>Вход</a:t>
            </a:r>
            <a:r>
              <a:rPr lang="en-US" b="1" dirty="0"/>
              <a:t>: “Hello”, </a:t>
            </a:r>
            <a:r>
              <a:rPr lang="ru-RU" b="1" dirty="0"/>
              <a:t>ключ</a:t>
            </a:r>
            <a:r>
              <a:rPr lang="en-US" b="1" dirty="0"/>
              <a:t>:”3”, </a:t>
            </a:r>
            <a:r>
              <a:rPr lang="ru-RU" b="1" dirty="0"/>
              <a:t>Вывод</a:t>
            </a:r>
            <a:r>
              <a:rPr lang="en-US" b="1" dirty="0"/>
              <a:t>:”</a:t>
            </a:r>
            <a:r>
              <a:rPr lang="en-US" b="1" dirty="0" err="1"/>
              <a:t>khoor</a:t>
            </a:r>
            <a:r>
              <a:rPr lang="en-US" b="1" dirty="0"/>
              <a:t>”.</a:t>
            </a:r>
          </a:p>
          <a:p>
            <a:r>
              <a:rPr lang="ru-RU" b="1" dirty="0"/>
              <a:t>Вход</a:t>
            </a:r>
            <a:r>
              <a:rPr lang="en-US" b="1" dirty="0"/>
              <a:t>:”</a:t>
            </a:r>
            <a:r>
              <a:rPr lang="en-US" b="1" dirty="0" err="1"/>
              <a:t>khoor</a:t>
            </a:r>
            <a:r>
              <a:rPr lang="en-US" b="1" dirty="0"/>
              <a:t>”, </a:t>
            </a:r>
            <a:r>
              <a:rPr lang="ru-RU" b="1" dirty="0"/>
              <a:t>ключ</a:t>
            </a:r>
            <a:r>
              <a:rPr lang="en-US" b="1" dirty="0"/>
              <a:t>:”-3”, </a:t>
            </a:r>
            <a:r>
              <a:rPr lang="ru-RU" b="1" dirty="0"/>
              <a:t>Вывод</a:t>
            </a:r>
            <a:r>
              <a:rPr lang="en-US" b="1" dirty="0"/>
              <a:t>:”Hello”.</a:t>
            </a:r>
          </a:p>
          <a:p>
            <a:r>
              <a:rPr lang="ru-RU" b="1" dirty="0"/>
              <a:t>Ошибки и исправления:</a:t>
            </a:r>
            <a:endParaRPr lang="ru-RU" dirty="0"/>
          </a:p>
          <a:p>
            <a:r>
              <a:rPr lang="ru-RU" dirty="0"/>
              <a:t>Проблема: символы вне алфавита (цифры, знаки) не обрабатывались.</a:t>
            </a:r>
            <a:br>
              <a:rPr lang="ru-RU" dirty="0"/>
            </a:br>
            <a:r>
              <a:rPr lang="ru-RU" dirty="0"/>
              <a:t>Решение: добавлено условие </a:t>
            </a:r>
            <a:r>
              <a:rPr lang="en-US" dirty="0"/>
              <a:t>if </a:t>
            </a:r>
            <a:r>
              <a:rPr lang="en-US" dirty="0" err="1"/>
              <a:t>char.isalpha</a:t>
            </a:r>
            <a:r>
              <a:rPr lang="en-US" dirty="0"/>
              <a:t>().</a:t>
            </a:r>
          </a:p>
          <a:p>
            <a:r>
              <a:rPr lang="ru-RU" dirty="0"/>
              <a:t>Проблема: регистр букв сбивался.</a:t>
            </a:r>
            <a:br>
              <a:rPr lang="ru-RU" dirty="0"/>
            </a:br>
            <a:r>
              <a:rPr lang="ru-RU" dirty="0"/>
              <a:t>Решение: сохранён исходный регистр через</a:t>
            </a:r>
            <a:r>
              <a:rPr lang="en-US" dirty="0"/>
              <a:t> </a:t>
            </a:r>
            <a:r>
              <a:rPr lang="en-US" dirty="0" err="1"/>
              <a:t>islower</a:t>
            </a:r>
            <a:r>
              <a:rPr lang="en-US" dirty="0"/>
              <a:t>().</a:t>
            </a:r>
          </a:p>
          <a:p>
            <a:r>
              <a:rPr lang="ru-RU" b="1" dirty="0"/>
              <a:t>Вывод:</a:t>
            </a:r>
            <a:r>
              <a:rPr lang="ru-RU" dirty="0"/>
              <a:t> программа корректно шифрует и расшифровывает текст при условии целочисленного ключа.</a:t>
            </a:r>
          </a:p>
          <a:p>
            <a:endParaRPr lang="en-US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0916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348EF-96D3-4B11-BAB2-FCE4423E7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4. 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CA4C8D-D681-49E2-B830-3E4DA8A7F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 ходе работы над проектом:</a:t>
            </a:r>
          </a:p>
          <a:p>
            <a:r>
              <a:rPr lang="ru-RU" dirty="0"/>
              <a:t>изучены основы Метода цезаря;</a:t>
            </a:r>
          </a:p>
          <a:p>
            <a:r>
              <a:rPr lang="ru-RU" dirty="0"/>
              <a:t>разработан шифровальщик;</a:t>
            </a:r>
          </a:p>
          <a:p>
            <a:r>
              <a:rPr lang="ru-RU" dirty="0"/>
              <a:t>протестирована его работоспособность на примерах.</a:t>
            </a:r>
          </a:p>
          <a:p>
            <a:r>
              <a:rPr lang="ru-RU" b="1" dirty="0"/>
              <a:t>Достигнута цель:</a:t>
            </a:r>
            <a:r>
              <a:rPr lang="ru-RU" dirty="0"/>
              <a:t>  разработать «простую систему шифрования» и продемонстрировать её работоспособность.</a:t>
            </a:r>
          </a:p>
          <a:p>
            <a:r>
              <a:rPr lang="ru-RU" b="1" dirty="0"/>
              <a:t>Перспективы развития:</a:t>
            </a:r>
            <a:endParaRPr lang="ru-RU" dirty="0"/>
          </a:p>
          <a:p>
            <a:r>
              <a:rPr lang="ru-RU" dirty="0"/>
              <a:t>добавить графический интерфейс  на </a:t>
            </a:r>
            <a:r>
              <a:rPr lang="ru-RU" dirty="0" err="1"/>
              <a:t>Tkinter</a:t>
            </a:r>
            <a:r>
              <a:rPr lang="ru-RU" dirty="0"/>
              <a:t>;</a:t>
            </a:r>
          </a:p>
          <a:p>
            <a:r>
              <a:rPr lang="ru-RU" dirty="0"/>
              <a:t>внедрить другие методы шифрования (</a:t>
            </a:r>
            <a:r>
              <a:rPr lang="ru-RU" dirty="0" err="1"/>
              <a:t>Виженера</a:t>
            </a:r>
            <a:r>
              <a:rPr lang="ru-RU" dirty="0"/>
              <a:t>, RSA);</a:t>
            </a:r>
          </a:p>
          <a:p>
            <a:r>
              <a:rPr lang="ru-RU" dirty="0"/>
              <a:t>расширить функционал загрузка файлов, статистика.</a:t>
            </a:r>
          </a:p>
          <a:p>
            <a:r>
              <a:rPr lang="ru-RU" b="1" dirty="0"/>
              <a:t>Личный вывод:</a:t>
            </a:r>
            <a:r>
              <a:rPr lang="ru-RU" dirty="0"/>
              <a:t> проект помог закрепить навыки программирования на </a:t>
            </a:r>
            <a:r>
              <a:rPr lang="ru-RU" dirty="0" err="1"/>
              <a:t>Python</a:t>
            </a:r>
            <a:r>
              <a:rPr lang="ru-RU" dirty="0"/>
              <a:t> и понять, как теоретические знания применяются на практике.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890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A7FBF-1054-4CD2-A576-5AC3FDB8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5. Список источников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D9F40B-1F29-4AF6-A801-8C7C4E240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Фороузан</a:t>
            </a:r>
            <a:r>
              <a:rPr lang="ru-RU" dirty="0"/>
              <a:t> Б. А. </a:t>
            </a:r>
            <a:r>
              <a:rPr lang="ru-RU" i="1" dirty="0"/>
              <a:t>Криптография и сетевая безопасность.</a:t>
            </a:r>
            <a:r>
              <a:rPr lang="ru-RU" dirty="0"/>
              <a:t> — М.: Диалектика, 2020.</a:t>
            </a:r>
          </a:p>
          <a:p>
            <a:r>
              <a:rPr lang="ru-RU" dirty="0" err="1"/>
              <a:t>Макфарланд</a:t>
            </a:r>
            <a:r>
              <a:rPr lang="ru-RU" dirty="0"/>
              <a:t> Д. </a:t>
            </a:r>
            <a:r>
              <a:rPr lang="en-US" i="1" dirty="0"/>
              <a:t>HTML5 </a:t>
            </a:r>
            <a:r>
              <a:rPr lang="ru-RU" i="1" dirty="0"/>
              <a:t>и </a:t>
            </a:r>
            <a:r>
              <a:rPr lang="en-US" i="1" dirty="0"/>
              <a:t>CSS3. </a:t>
            </a:r>
            <a:r>
              <a:rPr lang="ru-RU" i="1" dirty="0"/>
              <a:t>Разработка сайтов для любых браузеров и устройств.</a:t>
            </a:r>
            <a:r>
              <a:rPr lang="ru-RU" dirty="0"/>
              <a:t> — СПб.: Питер, 2021.</a:t>
            </a:r>
          </a:p>
          <a:p>
            <a:r>
              <a:rPr lang="ru-RU" dirty="0"/>
              <a:t>Документация </a:t>
            </a:r>
            <a:r>
              <a:rPr lang="en-US" dirty="0"/>
              <a:t>Python. </a:t>
            </a:r>
            <a:r>
              <a:rPr lang="en-US" i="1" dirty="0"/>
              <a:t>string — Common string operations.</a:t>
            </a:r>
            <a:r>
              <a:rPr lang="en-US" dirty="0"/>
              <a:t> [</a:t>
            </a:r>
            <a:r>
              <a:rPr lang="ru-RU" dirty="0"/>
              <a:t>Электронный ресурс]. </a:t>
            </a:r>
            <a:r>
              <a:rPr lang="en-US" dirty="0"/>
              <a:t>URL:  (</a:t>
            </a:r>
            <a:r>
              <a:rPr lang="ru-RU" dirty="0"/>
              <a:t>дата обращения: 07.02.2026).</a:t>
            </a:r>
          </a:p>
          <a:p>
            <a:r>
              <a:rPr lang="en-US" dirty="0"/>
              <a:t>MDN Web Docs. </a:t>
            </a:r>
            <a:r>
              <a:rPr lang="en-US" i="1" dirty="0"/>
              <a:t>HTML Basics.</a:t>
            </a:r>
            <a:r>
              <a:rPr lang="en-US" dirty="0"/>
              <a:t> [</a:t>
            </a:r>
            <a:r>
              <a:rPr lang="ru-RU" dirty="0"/>
              <a:t>Электронный ресурс]. </a:t>
            </a:r>
            <a:r>
              <a:rPr lang="en-US" dirty="0"/>
              <a:t>URL:  (</a:t>
            </a:r>
            <a:r>
              <a:rPr lang="ru-RU" dirty="0"/>
              <a:t>дата обращения: 07.02.2026).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6467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A9388-42A8-47A5-8A18-53CB76F7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6.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22FE97-0FCF-4C20-939F-63FEEEA62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Приложение А. Полный код программы</a:t>
            </a:r>
            <a:br>
              <a:rPr lang="ru-RU" dirty="0"/>
            </a:br>
            <a:r>
              <a:rPr lang="ru-RU" i="1" dirty="0"/>
              <a:t>(Вставьте весь код с комментариями.)</a:t>
            </a:r>
            <a:endParaRPr lang="ru-RU" dirty="0"/>
          </a:p>
          <a:p>
            <a:r>
              <a:rPr lang="ru-RU" b="1" dirty="0"/>
              <a:t>Приложение Б. Скриншоты интерфейса</a:t>
            </a:r>
            <a:br>
              <a:rPr lang="ru-RU" dirty="0"/>
            </a:br>
            <a:r>
              <a:rPr lang="ru-RU" i="1" dirty="0"/>
              <a:t>(Добавьте 2–3 изображения: главный экран, результат работы, ошибки (если были).)</a:t>
            </a:r>
            <a:endParaRPr lang="ru-RU" dirty="0"/>
          </a:p>
          <a:p>
            <a:r>
              <a:rPr lang="ru-RU" b="1" dirty="0"/>
              <a:t>Приложение В. Примеры входных/выходных данных</a:t>
            </a:r>
            <a:br>
              <a:rPr lang="ru-RU" dirty="0"/>
            </a:br>
            <a:r>
              <a:rPr lang="ru-RU" i="1" dirty="0"/>
              <a:t>(Таблица с тестовыми случаями.)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298B967-0675-4FE8-B997-1D6D0C7B3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289646"/>
              </p:ext>
            </p:extLst>
          </p:nvPr>
        </p:nvGraphicFramePr>
        <p:xfrm>
          <a:off x="1044388" y="5093046"/>
          <a:ext cx="5638800" cy="1218854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274401643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166120925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4074809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-apple-system"/>
                        </a:rPr>
                        <a:t>Вход</a:t>
                      </a:r>
                    </a:p>
                  </a:txBody>
                  <a:tcPr marR="18288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-apple-system"/>
                        </a:rPr>
                        <a:t>Ключ</a:t>
                      </a:r>
                    </a:p>
                  </a:txBody>
                  <a:tcPr marL="182880" marR="18288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-apple-system"/>
                        </a:rPr>
                        <a:t>Выход</a:t>
                      </a:r>
                    </a:p>
                  </a:txBody>
                  <a:tcPr marL="182880" marR="18288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023599"/>
                  </a:ext>
                </a:extLst>
              </a:tr>
              <a:tr h="426374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Hello</a:t>
                      </a:r>
                    </a:p>
                  </a:txBody>
                  <a:tcPr marR="18288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3</a:t>
                      </a:r>
                    </a:p>
                  </a:txBody>
                  <a:tcPr marL="182880" marR="18288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Khoor</a:t>
                      </a:r>
                    </a:p>
                  </a:txBody>
                  <a:tcPr marL="182880" marR="18288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763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Khoor</a:t>
                      </a:r>
                    </a:p>
                  </a:txBody>
                  <a:tcPr marR="18288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-3</a:t>
                      </a:r>
                    </a:p>
                  </a:txBody>
                  <a:tcPr marL="182880" marR="18288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Hello</a:t>
                      </a:r>
                    </a:p>
                  </a:txBody>
                  <a:tcPr marL="182880" marR="182880"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546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6779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1126</Words>
  <Application>Microsoft Office PowerPoint</Application>
  <PresentationFormat>Широкоэкранный</PresentationFormat>
  <Paragraphs>102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Тема Office</vt:lpstr>
      <vt:lpstr>Проект за 9-ый класс</vt:lpstr>
      <vt:lpstr>Перечисление разделов</vt:lpstr>
      <vt:lpstr>1. Введение</vt:lpstr>
      <vt:lpstr>2. Теоретическая часть</vt:lpstr>
      <vt:lpstr>2.2. История развития темы</vt:lpstr>
      <vt:lpstr>2.3. Современные тенденции</vt:lpstr>
      <vt:lpstr>3. Практическая часть</vt:lpstr>
      <vt:lpstr>3.2. Описание решения</vt:lpstr>
      <vt:lpstr>Листинг кода (фрагмент):</vt:lpstr>
      <vt:lpstr>3.3. Результаты и тестирование</vt:lpstr>
      <vt:lpstr>4. Заключение</vt:lpstr>
      <vt:lpstr>5. Список источников</vt:lpstr>
      <vt:lpstr>6. 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за 9-ый класс</dc:title>
  <dc:creator>Roland Nimoj</dc:creator>
  <cp:lastModifiedBy>Roland Nimoj</cp:lastModifiedBy>
  <cp:revision>28</cp:revision>
  <dcterms:created xsi:type="dcterms:W3CDTF">2026-01-25T08:51:46Z</dcterms:created>
  <dcterms:modified xsi:type="dcterms:W3CDTF">2026-02-18T07:26:25Z</dcterms:modified>
</cp:coreProperties>
</file>